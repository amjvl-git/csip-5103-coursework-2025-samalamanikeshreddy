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DM Sans" pitchFamily="2" charset="0"/>
      <p:regular r:id="rId14"/>
      <p:bold r:id="rId15"/>
    </p:embeddedFont>
    <p:embeddedFont>
      <p:font typeface="PT Serif" panose="020A0603040505020204" pitchFamily="18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0" y="-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016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101816"/>
            <a:ext cx="724852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Classifying Fashion-MNIST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3936802"/>
            <a:ext cx="755642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Comparative Analysis of ANN and CNN Performance</a:t>
            </a:r>
            <a:endParaRPr lang="en-US" sz="3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33481"/>
            <a:ext cx="807600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Project Overview &amp; Objectives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4447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C49F8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Problem: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043601"/>
            <a:ext cx="393334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correctly classify 10,000 unseen grayscale images into 10 categories of clothing.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288161" y="34447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C49F8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"Contest":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88161" y="4043601"/>
            <a:ext cx="39333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1: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simple Artificial Neural Network (ANN), our baseline.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88161" y="4973479"/>
            <a:ext cx="39333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2: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Convolutional Neural Network (CNN), our challenger.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782532" y="34447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C49F8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Goal: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782532" y="4043601"/>
            <a:ext cx="4069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 and train both models.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782532" y="4485799"/>
            <a:ext cx="4069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Quantify the final performance difference.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82532" y="5290899"/>
            <a:ext cx="4069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why and where each model succeeds or fails.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31357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Dataset: Fashion-MNIST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3160038"/>
            <a:ext cx="3664744" cy="1823680"/>
          </a:xfrm>
          <a:prstGeom prst="roundRect">
            <a:avLst>
              <a:gd name="adj" fmla="val 186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020604" y="3386852"/>
            <a:ext cx="318158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70,000 grayscale images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20604" y="3895011"/>
            <a:ext cx="3211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60,000 for Training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0604" y="4394002"/>
            <a:ext cx="3211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10,000 for Testing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3160038"/>
            <a:ext cx="3664863" cy="1823680"/>
          </a:xfrm>
          <a:prstGeom prst="roundRect">
            <a:avLst>
              <a:gd name="adj" fmla="val 186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912162" y="3386852"/>
            <a:ext cx="3211235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Dimensions: 28 x 28 pixels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793790" y="5210532"/>
            <a:ext cx="7556421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020604" y="543734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10 Classes: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020604" y="5945505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T-shirt/top, Trouser, Pullover, Dress, Coat, Sandal, Shirt, Sneaker, Bag, Ankle boot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8686"/>
            <a:ext cx="892909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Methodology: Data Preprocessing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06657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421618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359592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Load &amp; Transform: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4104084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ToTensor():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Converts images to PyTorch Tensors (scales to [0, 1]).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65978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Normalize((0.5,), (0.5,)):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Centers data by scaling to [-1, 1].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306657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421618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216962" y="359592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Split: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216962" y="4104084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60,000 training images were split: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216962" y="4603075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50,000 (Training):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Used to train the model.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216962" y="546496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10,000 (Validation):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Used to check for overfitting.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640133" y="306657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3421618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640133" y="359592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Loaders: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640133" y="4104084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Batch Size = 64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640133" y="4603075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shuffle=True for training loader.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27651" y="463629"/>
            <a:ext cx="7963614" cy="1106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1: Artificial Neural Network (ANN)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927651" y="1637586"/>
            <a:ext cx="625875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49F8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Architecture:</a:t>
            </a: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A simple Multi-Layer Perceptron (MLP)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927651" y="3191708"/>
            <a:ext cx="2213253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Process: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51" y="3721179"/>
            <a:ext cx="843082" cy="10117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39325" y="3889772"/>
            <a:ext cx="2213253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Flatten: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1939325" y="4267438"/>
            <a:ext cx="695194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28x28 image is converted into a flat 784-pixel vector.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651" y="4732973"/>
            <a:ext cx="843082" cy="10117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39325" y="4901565"/>
            <a:ext cx="2540794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Linear(784 -&gt; 128) + ReLU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1939325" y="5279231"/>
            <a:ext cx="695194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Dropout(0.2)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651" y="5744766"/>
            <a:ext cx="843082" cy="101179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39325" y="5913358"/>
            <a:ext cx="2422803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Linear(128 -&gt; 64) + ReLU</a:t>
            </a:r>
            <a:endParaRPr lang="en-US" sz="17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651" y="6756559"/>
            <a:ext cx="843082" cy="101179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939325" y="6925151"/>
            <a:ext cx="2213253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Linear(64 -&gt; 10)</a:t>
            </a:r>
            <a:endParaRPr lang="en-US" sz="1700" dirty="0"/>
          </a:p>
        </p:txBody>
      </p:sp>
      <p:sp>
        <p:nvSpPr>
          <p:cNvPr id="19" name="Text 11"/>
          <p:cNvSpPr/>
          <p:nvPr/>
        </p:nvSpPr>
        <p:spPr>
          <a:xfrm>
            <a:off x="1939325" y="7302818"/>
            <a:ext cx="695194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(Output)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636" y="407432"/>
            <a:ext cx="8063984" cy="486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2: Convolutional Neural Network (CNN)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18636" y="952738"/>
            <a:ext cx="4902160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C49F8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Architecture:</a:t>
            </a:r>
            <a:r>
              <a:rPr lang="en-US" sz="1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A 2-Layer Convolutional Network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18636" y="2318742"/>
            <a:ext cx="1945005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Process: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36" y="2784158"/>
            <a:ext cx="444579" cy="1143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1329" y="2932271"/>
            <a:ext cx="3490436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Conv2d (32 filters) + ReLU -&gt; MaxPool2d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11329" y="3264218"/>
            <a:ext cx="13000434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Finds simple patterns (edges, corners)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26" y="3821430"/>
            <a:ext cx="444579" cy="1143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33619" y="3969544"/>
            <a:ext cx="3490436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Conv2d (64 filters) + ReLU -&gt; MaxPool2d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333619" y="4301490"/>
            <a:ext cx="12778145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Combines patterns (textures, shapes)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16" y="4858703"/>
            <a:ext cx="444579" cy="1143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55909" y="5006816"/>
            <a:ext cx="1945005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Flatten: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555909" y="5338763"/>
            <a:ext cx="12555855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Flattens the extracted features.</a:t>
            </a:r>
            <a:endParaRPr lang="en-US" sz="11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505" y="5895975"/>
            <a:ext cx="444579" cy="1143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778198" y="6044089"/>
            <a:ext cx="2997398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Linear(3136 -&gt; 128) + Dropout(0.5)</a:t>
            </a:r>
            <a:endParaRPr lang="en-US" sz="15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16" y="6933248"/>
            <a:ext cx="444579" cy="11430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55909" y="7081361"/>
            <a:ext cx="1945005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Linear(128 -&gt; 10)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1555909" y="7413308"/>
            <a:ext cx="12555855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(Output)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9057"/>
            <a:ext cx="758130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Training &amp; Evaluation Setup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226945"/>
            <a:ext cx="6407944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51084" y="248423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Framework: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51084" y="2992398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PyTorch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226945"/>
            <a:ext cx="6408063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685842" y="248423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Hardware: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685842" y="2992398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NVIDIA GPU (via CUDA)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3839408"/>
            <a:ext cx="6407944" cy="1748552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51084" y="40967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Optimizer: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51084" y="4604861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Adam (Learning Rate = 0.001)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3839408"/>
            <a:ext cx="6408063" cy="1748552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685842" y="40967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Loss Function: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685842" y="4604861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CrossEntropyLoss (Standard for multi-class classification)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814774"/>
            <a:ext cx="6407944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51084" y="607206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Epochs: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051084" y="658022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5814774"/>
            <a:ext cx="6408063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685842" y="607206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Progress: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7685842" y="6580227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tqdm library used for live progress bars.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3639" y="427077"/>
            <a:ext cx="6848475" cy="509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Results: Training &amp; Validation Curves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3639" y="1325047"/>
            <a:ext cx="2587228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49F8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ANN (MLP):</a:t>
            </a:r>
            <a:r>
              <a:rPr lang="en-US" sz="1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Overfitting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43639" y="1997337"/>
            <a:ext cx="658213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Validation loss (orange) is erratic and much higher than training loss. The model is memorizing, not learning.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512248" y="1325047"/>
            <a:ext cx="3182303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49F8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CNN:</a:t>
            </a:r>
            <a:r>
              <a:rPr lang="en-US" sz="1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Healthy Generalization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512248" y="1997338"/>
            <a:ext cx="658213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Validation loss (orange) closely tracks the training loss. The model is learning the underlying patterns.</a:t>
            </a:r>
            <a:endParaRPr lang="en-US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EC4C405-64DE-52B6-3084-8530CAA5D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0" y="3759200"/>
            <a:ext cx="7083510" cy="314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5D3418C-0827-043E-2203-69083511C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1521" y="3759200"/>
            <a:ext cx="7088880" cy="314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02919"/>
            <a:ext cx="736580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Results: Final Test Accuracy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600807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Evaluation on 10,000 unseen test images: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2281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87.59%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1384578" y="545461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ANN (MLP)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35893" y="442281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91.22%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26681" y="545461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677995" y="442281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+3.63%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10268783" y="545461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Performance Gap</a:t>
            </a:r>
            <a:endParaRPr lang="en-US" sz="2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299" y="385286"/>
            <a:ext cx="4759166" cy="45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Analysis: Confusion Matrices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490299" y="1195149"/>
            <a:ext cx="2779990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49F8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ANN (MLP):</a:t>
            </a: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High Confusion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61419" y="1821061"/>
            <a:ext cx="6654046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"shirt-like" classes are a mess.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1419" y="2171343"/>
            <a:ext cx="6654046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148 "Shirts" misclassified as "T-shirt".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1419" y="2444473"/>
            <a:ext cx="6654046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109 "Pullovers" misclassified as "Coats".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3675" y="1195149"/>
            <a:ext cx="2689146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49F8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CNN:</a:t>
            </a: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Clearer Classification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564795" y="1821061"/>
            <a:ext cx="6654046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diagonal is much "hotter" (more confident).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564795" y="2171343"/>
            <a:ext cx="6654046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Still struggles with "Shirt" (93 errors), but is a huge improvement.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564795" y="2521625"/>
            <a:ext cx="6654046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Near-perfect on "Trouser," "Bag," and "Sneaker."</a:t>
            </a:r>
            <a:endParaRPr lang="en-US" sz="1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C98098A-F6C2-648E-299C-3D8FC7752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25" y="2885440"/>
            <a:ext cx="5574312" cy="4958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C8917BB-C2B9-A2A0-2FAB-CD20C8ADC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675" y="2793761"/>
            <a:ext cx="5780425" cy="514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1792"/>
            <a:ext cx="705981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 &amp; Future Work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313027"/>
            <a:ext cx="507492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C49F8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Conclusion:</a:t>
            </a: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Model Performance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90" y="298644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Convolutional Neural Network (CNN) demonstrated fundamental superiority for image classification on the Fashion-MNIST dataset.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7922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Its ability to inherently learn spatial features like edges and textures, unlike the "spatially unaware" Artificial Neural Network (ANN), proved critical.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572006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architectural advantage resulted in a </a:t>
            </a:r>
            <a:r>
              <a:rPr lang="en-US" sz="1750" dirty="0">
                <a:solidFill>
                  <a:srgbClr val="C49F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+3.63% higher accuracy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a much healthier model that resisted overfitting, as observed in the training and validation curves.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313027"/>
            <a:ext cx="5557838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C49F8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Future Work:</a:t>
            </a: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Enhancing the Model</a:t>
            </a:r>
            <a:endParaRPr lang="en-US" sz="2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3021806"/>
            <a:ext cx="340162" cy="3401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36637" y="301478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Augmentation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336637" y="3613666"/>
            <a:ext cx="55075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Artificially expand the dataset through techniques like random flips, rotations, and shifts to reduce overfitting and improve robustness.</a:t>
            </a:r>
            <a:endParaRPr lang="en-US" sz="17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5163026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36637" y="51560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Deeper Architectures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8336637" y="5754886"/>
            <a:ext cx="55075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 more complex, state-of-the-art models such as ResNet to potentially achieve an accuracy exceeding 95%.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706</Words>
  <Application>Microsoft Office PowerPoint</Application>
  <PresentationFormat>Custom</PresentationFormat>
  <Paragraphs>111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PT Serif</vt:lpstr>
      <vt:lpstr>Arial</vt:lpstr>
      <vt:lpstr>DM Sans</vt:lpstr>
      <vt:lpstr>PT Serif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Harsh Sain</cp:lastModifiedBy>
  <cp:revision>6</cp:revision>
  <dcterms:created xsi:type="dcterms:W3CDTF">2025-11-03T18:52:49Z</dcterms:created>
  <dcterms:modified xsi:type="dcterms:W3CDTF">2025-11-03T18:57:45Z</dcterms:modified>
</cp:coreProperties>
</file>